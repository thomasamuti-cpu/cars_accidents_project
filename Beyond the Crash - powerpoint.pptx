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69" r:id="rId20"/>
    <p:sldId id="275" r:id="rId21"/>
    <p:sldId id="276" r:id="rId22"/>
    <p:sldId id="277" r:id="rId23"/>
    <p:sldId id="278" r:id="rId24"/>
    <p:sldId id="285" r:id="rId25"/>
    <p:sldId id="279" r:id="rId26"/>
    <p:sldId id="280" r:id="rId27"/>
    <p:sldId id="281" r:id="rId28"/>
    <p:sldId id="282" r:id="rId29"/>
    <p:sldId id="28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69" d="100"/>
          <a:sy n="69" d="100"/>
        </p:scale>
        <p:origin x="4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F0EB0-E1B3-4161-AE47-6A97B3C44AA5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8E0CD-5B3E-4480-B69B-EB52D7644EB7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9281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F0EB0-E1B3-4161-AE47-6A97B3C44AA5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8E0CD-5B3E-4480-B69B-EB52D7644E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6149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F0EB0-E1B3-4161-AE47-6A97B3C44AA5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8E0CD-5B3E-4480-B69B-EB52D7644EB7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689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F0EB0-E1B3-4161-AE47-6A97B3C44AA5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8E0CD-5B3E-4480-B69B-EB52D7644E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7067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F0EB0-E1B3-4161-AE47-6A97B3C44AA5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8E0CD-5B3E-4480-B69B-EB52D7644E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9090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F0EB0-E1B3-4161-AE47-6A97B3C44AA5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8E0CD-5B3E-4480-B69B-EB52D7644E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1252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F0EB0-E1B3-4161-AE47-6A97B3C44AA5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8E0CD-5B3E-4480-B69B-EB52D7644E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0656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03F0EB0-E1B3-4161-AE47-6A97B3C44AA5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278E0CD-5B3E-4480-B69B-EB52D7644E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6895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F0EB0-E1B3-4161-AE47-6A97B3C44AA5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8E0CD-5B3E-4480-B69B-EB52D7644E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9093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F0EB0-E1B3-4161-AE47-6A97B3C44AA5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8E0CD-5B3E-4480-B69B-EB52D7644E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198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F0EB0-E1B3-4161-AE47-6A97B3C44AA5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8E0CD-5B3E-4480-B69B-EB52D7644E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523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03F0EB0-E1B3-4161-AE47-6A97B3C44AA5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278E0CD-5B3E-4480-B69B-EB52D7644EB7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6011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0859" y="2436958"/>
            <a:ext cx="7772400" cy="1463040"/>
          </a:xfrm>
        </p:spPr>
        <p:txBody>
          <a:bodyPr>
            <a:normAutofit fontScale="90000"/>
          </a:bodyPr>
          <a:lstStyle/>
          <a:p>
            <a:r>
              <a:rPr lang="en-GB" dirty="0"/>
              <a:t>Beyond the Crash: Deconstructing the Web of Accident Causation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6502" y="4046693"/>
            <a:ext cx="9144000" cy="1655762"/>
          </a:xfrm>
        </p:spPr>
        <p:txBody>
          <a:bodyPr/>
          <a:lstStyle/>
          <a:p>
            <a:r>
              <a:rPr lang="en-GB" dirty="0"/>
              <a:t>By: Group 7</a:t>
            </a:r>
          </a:p>
        </p:txBody>
      </p:sp>
      <p:pic>
        <p:nvPicPr>
          <p:cNvPr id="1026" name="Picture 2" descr="car crash cartoon vector illustration 17004947 Vector Art at Vecteez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9895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2353" y="2046296"/>
            <a:ext cx="6102485" cy="4039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1513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Members of Group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118108"/>
            <a:ext cx="10058400" cy="4023360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/>
              <a:t>Faith </a:t>
            </a:r>
            <a:r>
              <a:rPr lang="en-GB" dirty="0" err="1"/>
              <a:t>Koech</a:t>
            </a:r>
            <a:endParaRPr lang="en-GB" dirty="0"/>
          </a:p>
          <a:p>
            <a:pPr marL="0" indent="0" algn="ctr">
              <a:buNone/>
            </a:pPr>
            <a:r>
              <a:rPr lang="en-GB" dirty="0"/>
              <a:t>Lucy </a:t>
            </a:r>
            <a:r>
              <a:rPr lang="en-GB" dirty="0" err="1"/>
              <a:t>Muchiri</a:t>
            </a:r>
            <a:endParaRPr lang="en-GB" dirty="0"/>
          </a:p>
          <a:p>
            <a:pPr marL="0" indent="0" algn="ctr">
              <a:buNone/>
            </a:pPr>
            <a:r>
              <a:rPr lang="en-GB" dirty="0"/>
              <a:t>Timothy </a:t>
            </a:r>
            <a:r>
              <a:rPr lang="en-GB" dirty="0" err="1"/>
              <a:t>Munene</a:t>
            </a:r>
            <a:endParaRPr lang="en-GB" dirty="0"/>
          </a:p>
          <a:p>
            <a:pPr marL="0" indent="0" algn="ctr">
              <a:buNone/>
            </a:pPr>
            <a:r>
              <a:rPr lang="en-GB" dirty="0" err="1"/>
              <a:t>Munene</a:t>
            </a:r>
            <a:r>
              <a:rPr lang="en-GB" dirty="0"/>
              <a:t> </a:t>
            </a:r>
            <a:r>
              <a:rPr lang="en-GB" dirty="0" err="1"/>
              <a:t>Gitonga</a:t>
            </a:r>
            <a:endParaRPr lang="en-GB" dirty="0"/>
          </a:p>
          <a:p>
            <a:pPr marL="0" indent="0" algn="ctr">
              <a:buNone/>
            </a:pPr>
            <a:r>
              <a:rPr lang="en-GB" dirty="0"/>
              <a:t>Isaac </a:t>
            </a:r>
            <a:r>
              <a:rPr lang="en-GB" dirty="0" err="1"/>
              <a:t>Macharia</a:t>
            </a:r>
            <a:endParaRPr lang="en-GB" dirty="0"/>
          </a:p>
          <a:p>
            <a:pPr marL="0" indent="0" algn="ctr">
              <a:buNone/>
            </a:pPr>
            <a:r>
              <a:rPr lang="en-GB" dirty="0"/>
              <a:t>Thomas </a:t>
            </a:r>
            <a:r>
              <a:rPr lang="en-GB" dirty="0" err="1"/>
              <a:t>Amuti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4144" y="1011981"/>
            <a:ext cx="1621536" cy="73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849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Project Overview</a:t>
            </a:r>
          </a:p>
          <a:p>
            <a:r>
              <a:rPr lang="en-GB" dirty="0"/>
              <a:t>Business Understanding: Business Problem and Objectives</a:t>
            </a:r>
          </a:p>
          <a:p>
            <a:r>
              <a:rPr lang="en-GB" dirty="0"/>
              <a:t>Data Understanding</a:t>
            </a:r>
          </a:p>
          <a:p>
            <a:r>
              <a:rPr lang="en-GB" dirty="0"/>
              <a:t>Data Preparation</a:t>
            </a:r>
          </a:p>
          <a:p>
            <a:r>
              <a:rPr lang="en-GB" dirty="0"/>
              <a:t>Results</a:t>
            </a:r>
          </a:p>
          <a:p>
            <a:r>
              <a:rPr lang="en-GB" dirty="0"/>
              <a:t>Recommendations</a:t>
            </a:r>
          </a:p>
          <a:p>
            <a:r>
              <a:rPr lang="en-GB" dirty="0"/>
              <a:t>Limitations and Suggestions for further studies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4144" y="1011981"/>
            <a:ext cx="1621536" cy="73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324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Traffic accidents are a  common and persistent public safety issue.</a:t>
            </a:r>
          </a:p>
          <a:p>
            <a:pPr lvl="1"/>
            <a:r>
              <a:rPr lang="en-GB" dirty="0"/>
              <a:t>Associated with injury and/or death as well as financial loss in repair costs.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Accidents are primarily attributable to either: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Human related factors such as distracted driving.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Vehicle related factors such as pre-existing vehicle defect.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Environmental related factors such as poor weather.</a:t>
            </a:r>
          </a:p>
          <a:p>
            <a:pPr marL="457200" lvl="1" indent="0">
              <a:buNone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Understanding the role that these factors play is essential to reducing traffic accidents and developing effective safety measures.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4144" y="1011981"/>
            <a:ext cx="1621536" cy="73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719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Business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This project therefore seeks to answer the following business questions:</a:t>
            </a:r>
          </a:p>
          <a:p>
            <a:pPr marL="0" indent="0">
              <a:buNone/>
            </a:pPr>
            <a:endParaRPr lang="en-GB" dirty="0"/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What are the most common primary contributory causes of traffic accidents?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How do human characteristics contribute to accident occurrence?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How do vehicle characteristics contribute to accident occurrence?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How do environmental conditions such as weather influence accident occurrence?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Are there specific times when accidents are more likely to occur?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How does road design impact the likelihood of accidents?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Can we accurately predict the primary cause of an accident given the human, vehicle, environmental, temporal and road design characteristics?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4144" y="1011981"/>
            <a:ext cx="1621536" cy="73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022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Stakeholders who may benefit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Government and city authorities who can identify high risk areas and improve on road infrastructure while implementing policies aimed at reducing accidents.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Public safety organizations such as the Vehicle Safety Board who might use the data to aid in designing regulation and safety campaigns.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General public and drivers who might benefit from better awareness of risk factors.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Vehicle manufacturers who might leverage on insights to improve car safety features such as weather detection systems.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4144" y="1011981"/>
            <a:ext cx="1621536" cy="73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225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This project utilized 3 datasets that contain information on the: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dirty="0"/>
              <a:t> Accident occurrence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dirty="0"/>
              <a:t> Characteristics of people involved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dirty="0"/>
              <a:t> Vehicle characteristics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The datasets used were: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City of Chicago Accident Dataset that has 1.04 million rows and 48 columns.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Vehicle Accident Dataset that has 2.28 million rows and 29 columns.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Driver/Passenger Accident Dataset that has 2.12 million rows with 71 columns.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4144" y="1011981"/>
            <a:ext cx="1621536" cy="73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097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Preparation – Libraries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We used several libraries to prepare and analyse the dataset: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GB" sz="2200" dirty="0"/>
              <a:t>Pandas - to read our csv files and perform exploratory data analysis.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GB" sz="2200" dirty="0" err="1"/>
              <a:t>Matplotlib</a:t>
            </a:r>
            <a:r>
              <a:rPr lang="en-GB" sz="2200" dirty="0"/>
              <a:t> - for visualizations.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GB" sz="2200" dirty="0" err="1"/>
              <a:t>Scikit</a:t>
            </a:r>
            <a:r>
              <a:rPr lang="en-GB" sz="2200" dirty="0"/>
              <a:t>-learn – for model fitting and evaluation. The models used were:</a:t>
            </a:r>
          </a:p>
          <a:p>
            <a:pPr marL="1238400" lvl="2" indent="-457200"/>
            <a:r>
              <a:rPr lang="en-GB" sz="1800" dirty="0"/>
              <a:t>Decision Forest Classifier – Base model to capture complex patterns in the dataset.</a:t>
            </a:r>
          </a:p>
          <a:p>
            <a:pPr marL="1238400" lvl="2" indent="-457200"/>
            <a:r>
              <a:rPr lang="en-GB" sz="1800" dirty="0"/>
              <a:t>Random Forest Classifier  - To handle high dimensional data.</a:t>
            </a:r>
          </a:p>
          <a:p>
            <a:pPr marL="1238400" lvl="2" indent="-457200"/>
            <a:r>
              <a:rPr lang="en-GB" sz="1800" dirty="0"/>
              <a:t>Neural Networks – To handle situations of class imbalance.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4144" y="1011981"/>
            <a:ext cx="1621536" cy="73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560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Cleaning – Selecting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Prior to data analysis we selected the following columns from the following datasets:</a:t>
            </a:r>
          </a:p>
          <a:p>
            <a:pPr marL="457200" lvl="1" indent="0">
              <a:buNone/>
            </a:pPr>
            <a:endParaRPr lang="en-GB" dirty="0"/>
          </a:p>
          <a:p>
            <a:pPr marL="544068" lvl="1" indent="-342900">
              <a:buFont typeface="+mj-lt"/>
              <a:buAutoNum type="arabicPeriod"/>
            </a:pPr>
            <a:r>
              <a:rPr lang="en-GB" dirty="0"/>
              <a:t>City of Chicago Dataset: </a:t>
            </a:r>
          </a:p>
          <a:p>
            <a:pPr lvl="2"/>
            <a:r>
              <a:rPr lang="en-GB" dirty="0"/>
              <a:t>Lighting condition - Light condition at time of crash.</a:t>
            </a:r>
          </a:p>
          <a:p>
            <a:pPr lvl="2"/>
            <a:r>
              <a:rPr lang="en-GB" dirty="0"/>
              <a:t>Weather condition - Weather condition at time of crash.</a:t>
            </a:r>
          </a:p>
          <a:p>
            <a:pPr lvl="2"/>
            <a:r>
              <a:rPr lang="en-GB" dirty="0"/>
              <a:t>Road defects - Road defects, as determined by reporting officer.</a:t>
            </a:r>
          </a:p>
          <a:p>
            <a:pPr lvl="2"/>
            <a:r>
              <a:rPr lang="en-GB" dirty="0"/>
              <a:t>Crash type - A general severity classification for the crash. Can be either Injury and/or Tow Due to Crash or No Injury / Drive Away.</a:t>
            </a:r>
          </a:p>
          <a:p>
            <a:pPr lvl="2"/>
            <a:r>
              <a:rPr lang="en-GB" dirty="0"/>
              <a:t>Primary Contributory Cause - The factor which was most significant in causing the crash.</a:t>
            </a:r>
          </a:p>
          <a:p>
            <a:pPr lvl="2"/>
            <a:r>
              <a:rPr lang="en-GB" dirty="0"/>
              <a:t>Crash hour - The hour of the day component of CRASH_DATE.</a:t>
            </a:r>
          </a:p>
          <a:p>
            <a:pPr lvl="2"/>
            <a:r>
              <a:rPr lang="en-GB" dirty="0"/>
              <a:t>Crash day - The day of the week component of CRASH_DATE.</a:t>
            </a:r>
          </a:p>
          <a:p>
            <a:pPr lvl="2"/>
            <a:r>
              <a:rPr lang="en-GB" dirty="0"/>
              <a:t>Crash month - The month component of CRASH_DATE.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4144" y="1011981"/>
            <a:ext cx="1621536" cy="73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791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Cleaning – Selecting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GB" dirty="0"/>
              <a:t>Vehicle Dataset:</a:t>
            </a:r>
          </a:p>
          <a:p>
            <a:pPr lvl="3"/>
            <a:r>
              <a:rPr lang="en-GB" dirty="0"/>
              <a:t>Number of passengers - Number of passengers in the vehicle. The driver is not included.</a:t>
            </a:r>
          </a:p>
          <a:p>
            <a:pPr lvl="3"/>
            <a:r>
              <a:rPr lang="en-GB" dirty="0"/>
              <a:t>Make - The make (brand) of the vehicle.</a:t>
            </a:r>
          </a:p>
          <a:p>
            <a:pPr lvl="3"/>
            <a:r>
              <a:rPr lang="en-GB" dirty="0"/>
              <a:t>Vehicle Use - The normal use of the vehicle.</a:t>
            </a:r>
          </a:p>
          <a:p>
            <a:pPr lvl="3"/>
            <a:r>
              <a:rPr lang="en-GB" dirty="0"/>
              <a:t>Vehicle Defect - Defect the vehicle had.</a:t>
            </a:r>
          </a:p>
          <a:p>
            <a:pPr lvl="3"/>
            <a:r>
              <a:rPr lang="en-GB" dirty="0"/>
              <a:t>Exceeds speed limit - Whether vehicle exceeded speed limit.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GB" dirty="0"/>
              <a:t>Passenger Dataset:</a:t>
            </a:r>
          </a:p>
          <a:p>
            <a:pPr lvl="3"/>
            <a:r>
              <a:rPr lang="en-GB" dirty="0"/>
              <a:t>Person type - Type of roadway user involved in crash.</a:t>
            </a:r>
          </a:p>
          <a:p>
            <a:pPr lvl="3"/>
            <a:r>
              <a:rPr lang="en-GB" dirty="0"/>
              <a:t>Sex - Gender of person involved in crash.</a:t>
            </a:r>
          </a:p>
          <a:p>
            <a:pPr lvl="3"/>
            <a:r>
              <a:rPr lang="en-GB" dirty="0"/>
              <a:t>Age - Age of person involved in crash.</a:t>
            </a:r>
          </a:p>
          <a:p>
            <a:pPr lvl="3"/>
            <a:r>
              <a:rPr lang="en-GB" dirty="0"/>
              <a:t>Driver Vision - What, if any, objects obscured the driver’s vision at time of crash.</a:t>
            </a:r>
          </a:p>
          <a:p>
            <a:pPr lvl="3"/>
            <a:r>
              <a:rPr lang="en-GB" dirty="0"/>
              <a:t>Physical Condition - Driver’s apparent physical condition at time of crash.</a:t>
            </a:r>
          </a:p>
          <a:p>
            <a:pPr lvl="3"/>
            <a:r>
              <a:rPr lang="en-GB" dirty="0"/>
              <a:t>Driver Action - Driver action that contributed to the crash.</a:t>
            </a:r>
          </a:p>
          <a:p>
            <a:pPr lvl="3"/>
            <a:r>
              <a:rPr lang="en-GB" dirty="0" err="1"/>
              <a:t>Pedpedal</a:t>
            </a:r>
            <a:r>
              <a:rPr lang="en-GB" dirty="0"/>
              <a:t> Action - Action of pedestrian or cyclist at the time of crash.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4144" y="1011981"/>
            <a:ext cx="1621536" cy="73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180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 Output from 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All 3 data sets were merged with a total of 21 columns and 1,192,524 entries.</a:t>
            </a:r>
          </a:p>
          <a:p>
            <a:pPr lvl="1"/>
            <a:r>
              <a:rPr lang="en-GB" dirty="0"/>
              <a:t>Dataset were filtered to contain ONLY the data that focused on drivers.</a:t>
            </a:r>
          </a:p>
          <a:p>
            <a:pPr lvl="1"/>
            <a:r>
              <a:rPr lang="en-GB" dirty="0"/>
              <a:t>‘Exceeding speed limit’ and ‘pedestrian action’ columns  were dropped since they contained &gt; 95% missing data.</a:t>
            </a:r>
          </a:p>
          <a:p>
            <a:pPr lvl="1"/>
            <a:r>
              <a:rPr lang="en-GB" dirty="0"/>
              <a:t>The column ‘Age’ was also noted to have a large number of missing values which was 26.6% of total data.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GB" dirty="0"/>
              <a:t>The column also had negative values.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GB" dirty="0"/>
              <a:t>Filling the missing values would have led to erroneous results.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GB" dirty="0"/>
              <a:t>Therefore both the missing and negative values were dropped.</a:t>
            </a:r>
          </a:p>
          <a:p>
            <a:pPr lvl="2"/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Final total entries were: 858,550 rows and 21 columns.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4144" y="1011981"/>
            <a:ext cx="1621536" cy="73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303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 – Primary Contributory Causes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177" y="1803861"/>
            <a:ext cx="7260606" cy="43481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238" y="5720169"/>
            <a:ext cx="1621536" cy="73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432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Accident Crashes based on driver’s action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3766" y="1737360"/>
            <a:ext cx="7705427" cy="45886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238" y="5720169"/>
            <a:ext cx="1621536" cy="73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760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Accident Crashes based on driver’s physical condition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109" y="2003368"/>
            <a:ext cx="7252741" cy="431904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238" y="5720169"/>
            <a:ext cx="1621536" cy="73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839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Accident Crashes based on driver vision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820" y="1901782"/>
            <a:ext cx="7010759" cy="417494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238" y="5720169"/>
            <a:ext cx="1621536" cy="73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529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Accident Crashes based on vehicle defect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0860" y="1737360"/>
            <a:ext cx="7803142" cy="46468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238" y="5720169"/>
            <a:ext cx="1621536" cy="73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251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Accident Crashes based on vehicle make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119" y="1737360"/>
            <a:ext cx="7752721" cy="461678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238" y="5720169"/>
            <a:ext cx="1621536" cy="73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005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Accident Crashes based on vehicle use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477" y="1737360"/>
            <a:ext cx="7656005" cy="45591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238" y="5720169"/>
            <a:ext cx="1621536" cy="73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233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Accident Crashes based on weather condition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034" y="1737360"/>
            <a:ext cx="7482891" cy="44561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238" y="5720169"/>
            <a:ext cx="1621536" cy="73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939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Accident Crashes based on road defect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3195" y="1901429"/>
            <a:ext cx="7206570" cy="429155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238" y="5720169"/>
            <a:ext cx="1621536" cy="73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012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Accident Crashes based on hour of the day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257" y="1737360"/>
            <a:ext cx="7510446" cy="44725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238" y="5720169"/>
            <a:ext cx="1621536" cy="73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506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Accident Crashes based on month of the year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422" y="1737360"/>
            <a:ext cx="7748115" cy="461404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238" y="5720169"/>
            <a:ext cx="1621536" cy="73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807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We started by building baseline models including Decision Tree, Random Forest Classifier, and Neural Network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Initial models suffered from class imbalance by overfitting.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 improved the model by grouping the target variable into 5 broad causes (Environmental, Vehicle Defect, Impairment/Distraction, Driver Error, and Unknown)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Neural Network emerged as the best-performing model, balancing training and testing accuracy and successfully capturing complex patterns.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4144" y="1011981"/>
            <a:ext cx="1621536" cy="73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107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656BA-412E-C308-AEF6-7EDBAFCDD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2A104-CC25-C8F3-7C40-CC86AFD22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16E19-9121-BE68-4814-87E7A802A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following were the final training and test accuracies for the models: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165D52-2C38-B8E0-621B-734F0346684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4144" y="1011981"/>
            <a:ext cx="1621536" cy="739302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A315535-C4F4-3867-D20D-56C9624020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341730"/>
              </p:ext>
            </p:extLst>
          </p:nvPr>
        </p:nvGraphicFramePr>
        <p:xfrm>
          <a:off x="1097280" y="2345086"/>
          <a:ext cx="9496543" cy="2858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3525">
                  <a:extLst>
                    <a:ext uri="{9D8B030D-6E8A-4147-A177-3AD203B41FA5}">
                      <a16:colId xmlns:a16="http://schemas.microsoft.com/office/drawing/2014/main" val="1360389607"/>
                    </a:ext>
                  </a:extLst>
                </a:gridCol>
                <a:gridCol w="1997051">
                  <a:extLst>
                    <a:ext uri="{9D8B030D-6E8A-4147-A177-3AD203B41FA5}">
                      <a16:colId xmlns:a16="http://schemas.microsoft.com/office/drawing/2014/main" val="629523974"/>
                    </a:ext>
                  </a:extLst>
                </a:gridCol>
                <a:gridCol w="2303347">
                  <a:extLst>
                    <a:ext uri="{9D8B030D-6E8A-4147-A177-3AD203B41FA5}">
                      <a16:colId xmlns:a16="http://schemas.microsoft.com/office/drawing/2014/main" val="350077976"/>
                    </a:ext>
                  </a:extLst>
                </a:gridCol>
                <a:gridCol w="2462620">
                  <a:extLst>
                    <a:ext uri="{9D8B030D-6E8A-4147-A177-3AD203B41FA5}">
                      <a16:colId xmlns:a16="http://schemas.microsoft.com/office/drawing/2014/main" val="3595876353"/>
                    </a:ext>
                  </a:extLst>
                </a:gridCol>
              </a:tblGrid>
              <a:tr h="952996"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Neural Network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70105"/>
                  </a:ext>
                </a:extLst>
              </a:tr>
              <a:tr h="952996">
                <a:tc>
                  <a:txBody>
                    <a:bodyPr/>
                    <a:lstStyle/>
                    <a:p>
                      <a:r>
                        <a:rPr lang="en-US" dirty="0"/>
                        <a:t>Training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71.26%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95.94%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7003049"/>
                  </a:ext>
                </a:extLst>
              </a:tr>
              <a:tr h="952996">
                <a:tc>
                  <a:txBody>
                    <a:bodyPr/>
                    <a:lstStyle/>
                    <a:p>
                      <a:r>
                        <a:rPr lang="en-US" dirty="0"/>
                        <a:t>Test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54.42%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69.66%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93.56%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96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0374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features in predicting contributory cause of crashes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most critical features influencing crash causes were: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Vehicle Characteristics: Vehicle Defect and Vehicle Make.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Environmental Factors: Weather Condition and Lighting Condition.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Human Factors: Driver Age and Physical Condition.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Temporal Factors such as Date and Time of the Accidents.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Road Design Characteristics such as road defects and road surface conditions.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4144" y="1011981"/>
            <a:ext cx="1621536" cy="73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532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our project: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most primary contributory cause of accidents was failing to yield right of way.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Human, vehicle, environmental and temporal characteristics all contributed significantly to accident crashes.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We can safely predict with the above characteristics, the primary contributory factor to accident crashes with a 93% accuracy using trained neural networks.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4144" y="1011981"/>
            <a:ext cx="1621536" cy="73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324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Limitations of the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original dataset </a:t>
            </a:r>
            <a:r>
              <a:rPr lang="en-US" dirty="0" smtClean="0"/>
              <a:t>was </a:t>
            </a:r>
            <a:r>
              <a:rPr lang="en-US" dirty="0"/>
              <a:t>massive, containing over 850,000 distinct entries. </a:t>
            </a:r>
            <a:endParaRPr lang="en-US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Consequently</a:t>
            </a:r>
            <a:r>
              <a:rPr lang="en-US" dirty="0"/>
              <a:t>, to balance computational feasibility with model performance, the final models were trained on </a:t>
            </a:r>
            <a:r>
              <a:rPr lang="en-US" dirty="0" smtClean="0"/>
              <a:t>a subset sample </a:t>
            </a:r>
            <a:r>
              <a:rPr lang="en-US" dirty="0"/>
              <a:t>of the dataset rather than the entirety of the data</a:t>
            </a:r>
            <a:r>
              <a:rPr lang="en-US" dirty="0" smtClean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raw dataset is recorded at the "person" level rather than the "crash" level, meaning every individual involved (including passengers) generates a distinct row</a:t>
            </a:r>
            <a:r>
              <a:rPr lang="en-US" dirty="0" smtClean="0"/>
              <a:t>.</a:t>
            </a:r>
            <a:endParaRPr lang="en-US" dirty="0" smtClean="0"/>
          </a:p>
          <a:p>
            <a:pPr marL="749808" lvl="1" indent="-457200"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en-US" dirty="0"/>
              <a:t>To prevent artificial inflation of the data and to focus our insights strictly on the active decision-makers on the road, we filtered the dataset to analyze only drivers. 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4144" y="1011981"/>
            <a:ext cx="1621536" cy="73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307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Suggestions for further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Future </a:t>
            </a:r>
            <a:r>
              <a:rPr lang="en-US" dirty="0"/>
              <a:t>iterations of this project should utilize cloud-based computing </a:t>
            </a:r>
            <a:r>
              <a:rPr lang="en-US" dirty="0" smtClean="0"/>
              <a:t>platforms</a:t>
            </a:r>
            <a:endParaRPr lang="en-US" dirty="0" smtClean="0"/>
          </a:p>
          <a:p>
            <a:pPr marL="578358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This </a:t>
            </a:r>
            <a:r>
              <a:rPr lang="en-US" dirty="0"/>
              <a:t>would provide the necessary computational power to train complex Neural Networks on the full 100% dataset without memory bottlenecks</a:t>
            </a:r>
            <a:r>
              <a:rPr lang="en-US" dirty="0" smtClean="0"/>
              <a:t>.</a:t>
            </a:r>
          </a:p>
          <a:p>
            <a:pPr marL="749808" lvl="1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To </a:t>
            </a:r>
            <a:r>
              <a:rPr lang="en-US" dirty="0"/>
              <a:t>resolve the multi-vehicle weighting limitation, future studies could involve aggregating the dataset up to the Crash Level (grouping by CRASH_RECORD_ID). </a:t>
            </a:r>
            <a:endParaRPr lang="en-US" dirty="0" smtClean="0"/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 smtClean="0"/>
              <a:t>This </a:t>
            </a:r>
            <a:r>
              <a:rPr lang="en-US" dirty="0"/>
              <a:t>would require advanced feature engineering to summarize the demographics of all drivers involved in a single incident, allowing for a pure 1:1 prediction of crash causes.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4144" y="1011981"/>
            <a:ext cx="1621536" cy="73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600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6000" dirty="0"/>
          </a:p>
          <a:p>
            <a:pPr marL="0" indent="0" algn="ctr">
              <a:buNone/>
            </a:pPr>
            <a:r>
              <a:rPr lang="en-GB" sz="6000" dirty="0"/>
              <a:t>Thank you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4144" y="1011981"/>
            <a:ext cx="1621536" cy="73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171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215</TotalTime>
  <Words>1384</Words>
  <Application>Microsoft Office PowerPoint</Application>
  <PresentationFormat>Widescreen</PresentationFormat>
  <Paragraphs>152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Wingdings</vt:lpstr>
      <vt:lpstr>Retrospect</vt:lpstr>
      <vt:lpstr>Beyond the Crash: Deconstructing the Web of Accident Causation</vt:lpstr>
      <vt:lpstr>Members of Group 6</vt:lpstr>
      <vt:lpstr>Highlights</vt:lpstr>
      <vt:lpstr>Project Overview</vt:lpstr>
      <vt:lpstr>Business Questions</vt:lpstr>
      <vt:lpstr>Stakeholders who may benefit</vt:lpstr>
      <vt:lpstr>Data Understanding</vt:lpstr>
      <vt:lpstr>Data Preparation – Libraries used</vt:lpstr>
      <vt:lpstr>Data Cleaning – Selecting columns</vt:lpstr>
      <vt:lpstr>Data Cleaning – Selecting columns</vt:lpstr>
      <vt:lpstr>Final Output from Data Cleaning</vt:lpstr>
      <vt:lpstr>Results – Primary Contributory Causes</vt:lpstr>
      <vt:lpstr>Accident Crashes based on driver’s action</vt:lpstr>
      <vt:lpstr>Accident Crashes based on driver’s physical condition</vt:lpstr>
      <vt:lpstr>Accident Crashes based on driver vision</vt:lpstr>
      <vt:lpstr>Accident Crashes based on vehicle defect</vt:lpstr>
      <vt:lpstr>Accident Crashes based on vehicle make</vt:lpstr>
      <vt:lpstr>Accident Crashes based on vehicle use</vt:lpstr>
      <vt:lpstr>Accident Crashes based on weather condition</vt:lpstr>
      <vt:lpstr>Accident Crashes based on road defect</vt:lpstr>
      <vt:lpstr>Accident Crashes based on hour of the day</vt:lpstr>
      <vt:lpstr>Accident Crashes based on month of the year</vt:lpstr>
      <vt:lpstr>Model results</vt:lpstr>
      <vt:lpstr>Model results</vt:lpstr>
      <vt:lpstr>Key features in predicting contributory cause of crashes</vt:lpstr>
      <vt:lpstr>Recommendations</vt:lpstr>
      <vt:lpstr>Limitations of the dataset</vt:lpstr>
      <vt:lpstr>Suggestions for further studies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the Crash: Deconstructing the Web of Accident Causation</dc:title>
  <dc:creator>PC</dc:creator>
  <cp:lastModifiedBy>PC</cp:lastModifiedBy>
  <cp:revision>42</cp:revision>
  <dcterms:created xsi:type="dcterms:W3CDTF">2026-03-28T00:42:52Z</dcterms:created>
  <dcterms:modified xsi:type="dcterms:W3CDTF">2026-03-29T09:04:17Z</dcterms:modified>
</cp:coreProperties>
</file>